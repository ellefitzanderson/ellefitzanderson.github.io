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 &amp; 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Product Toolkit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94360" y="34015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evergreen templates for working product leaders. Fill them in, print them, argue over them.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53949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52669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 and share, with attribution  ·  andersonco.uk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to use this pack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20824"/>
            <a:ext cx="310896" cy="310896"/>
          </a:xfrm>
          <a:prstGeom prst="ellipse">
            <a:avLst/>
          </a:prstGeom>
          <a:solidFill>
            <a:srgbClr val="123F3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0080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Fill them in, in the room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37760" y="1929384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 is a one-slide canvas. Duplicate the slide, type into the boxes, and do it with the people who have to live with the answer. The arguing is the value; the filled-in slide is just the receipt.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502152"/>
            <a:ext cx="310896" cy="310896"/>
          </a:xfrm>
          <a:prstGeom prst="ellipse">
            <a:avLst/>
          </a:prstGeom>
          <a:solidFill>
            <a:srgbClr val="123F3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4893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447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Steal the structure, not the words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937760" y="3410712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any label so it sounds like your organisation. The prompts inside each box are training wheels; delete them once the habit holds.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983480"/>
            <a:ext cx="310896" cy="310896"/>
          </a:xfrm>
          <a:prstGeom prst="ellipse">
            <a:avLst/>
          </a:prstGeom>
          <a:solidFill>
            <a:srgbClr val="123F3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9706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4928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Share it onwards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937760" y="489204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 is free to use and share with attribution. If a template earns a permanent place in how your team works, that is the best outcome it can have.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Opportunity Brief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this:  </a:t>
            </a:r>
            <a:pPr indent="0" marL="0">
              <a:buNone/>
            </a:pPr>
            <a:r>
              <a:rPr lang="en-US" sz="11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an opportunity must survive before it becomes a project. If the boxes can't be filled, the work isn't ready to be funded.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271516" cy="1371600"/>
          </a:xfrm>
          <a:prstGeom prst="roundRect">
            <a:avLst>
              <a:gd name="adj" fmla="val 3667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7452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IN THE CUSTOMER'S WORDS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2148840"/>
            <a:ext cx="49423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or observation, not our paraphrase. Who has this problem and how often?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3076" y="1783080"/>
            <a:ext cx="5271516" cy="1371600"/>
          </a:xfrm>
          <a:prstGeom prst="roundRect">
            <a:avLst>
              <a:gd name="adj" fmla="val 3667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7668" y="187452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IT MATTERS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87668" y="2148840"/>
            <a:ext cx="49423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they done about it already? What does coping cost them?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291840"/>
            <a:ext cx="5271516" cy="1371600"/>
          </a:xfrm>
          <a:prstGeom prst="roundRect">
            <a:avLst>
              <a:gd name="adj" fmla="val 3667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38328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US, WHY NOW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" y="3657600"/>
            <a:ext cx="49423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unfair advantage, and the trigger that makes this timely.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23076" y="3291840"/>
            <a:ext cx="5271516" cy="1371600"/>
          </a:xfrm>
          <a:prstGeom prst="roundRect">
            <a:avLst>
              <a:gd name="adj" fmla="val 3667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7668" y="338328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TEST OF THE RISKIEST ASSUMPTION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87668" y="3657600"/>
            <a:ext cx="49423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we learn in two weeks that might kill this?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4800600"/>
            <a:ext cx="11000232" cy="1234440"/>
          </a:xfrm>
          <a:prstGeom prst="roundRect">
            <a:avLst>
              <a:gd name="adj" fmla="val 4074"/>
            </a:avLst>
          </a:prstGeom>
          <a:solidFill>
            <a:srgbClr val="EFE7D2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892040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LIKE, IN ONE NUMBER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" y="5166360"/>
            <a:ext cx="106710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measure, the date, and the counter-metric we will watch while chasing it.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Product Strategy One-Pager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this:  </a:t>
            </a:r>
            <a:pPr indent="0" marL="0">
              <a:buNone/>
            </a:pPr>
            <a:r>
              <a:rPr lang="en-US" sz="11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strategy can't survive one page, it isn't a strategy yet. One author, then fight over boxes 4 to 6 as a leadership team.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361944" cy="2029968"/>
          </a:xfrm>
          <a:prstGeom prst="roundRect">
            <a:avLst>
              <a:gd name="adj" fmla="val 2477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65960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WHERE WE PLAY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2240280"/>
            <a:ext cx="3032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problem space, boundaries. Must name who we are NOT for.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13504" y="1874520"/>
            <a:ext cx="3361944" cy="2029968"/>
          </a:xfrm>
          <a:prstGeom prst="roundRect">
            <a:avLst>
              <a:gd name="adj" fmla="val 2477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8096" y="1965960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INSIGHT WE'RE BETTING 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8096" y="2240280"/>
            <a:ext cx="3032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believe that competitors don't see or won't act 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32648" y="1874520"/>
            <a:ext cx="3361944" cy="2029968"/>
          </a:xfrm>
          <a:prstGeom prst="roundRect">
            <a:avLst>
              <a:gd name="adj" fmla="val 2477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7240" y="1965960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HOW WE WIN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397240" y="2240280"/>
            <a:ext cx="3032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capabilities that make us the right ones. Not adjectives.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087368"/>
            <a:ext cx="3361944" cy="2029968"/>
          </a:xfrm>
          <a:prstGeom prst="roundRect">
            <a:avLst>
              <a:gd name="adj" fmla="val 2477"/>
            </a:avLst>
          </a:prstGeom>
          <a:solidFill>
            <a:srgbClr val="EFE7D2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178808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BETS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" y="4453128"/>
            <a:ext cx="3032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[change] for [who] will produce [outcome], measured by [number] by [date].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13504" y="4087368"/>
            <a:ext cx="3361944" cy="2029968"/>
          </a:xfrm>
          <a:prstGeom prst="roundRect">
            <a:avLst>
              <a:gd name="adj" fmla="val 2477"/>
            </a:avLst>
          </a:prstGeom>
          <a:solidFill>
            <a:srgbClr val="EFE7D2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8096" y="4178808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WHAT WE ARE SAYING NO TO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8096" y="4453128"/>
            <a:ext cx="3032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options someone senior wanted, declined in writing.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32648" y="4087368"/>
            <a:ext cx="3361944" cy="2029968"/>
          </a:xfrm>
          <a:prstGeom prst="roundRect">
            <a:avLst>
              <a:gd name="adj" fmla="val 2477"/>
            </a:avLst>
          </a:prstGeom>
          <a:solidFill>
            <a:srgbClr val="EFE7D2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7240" y="4178808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WHAT WOULD CHANGE OUR MIND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97240" y="4453128"/>
            <a:ext cx="3032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that would kill or reshape each bet. Decided now.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/ Next / Later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this:  </a:t>
            </a:r>
            <a:pPr indent="0" marL="0">
              <a:buNone/>
            </a:pPr>
            <a:r>
              <a:rPr lang="en-US" sz="11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roadmap that tells the truth about certainty. Now is committed, Next is likely, Later is a direction. Dates only appear in Now.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361944" cy="502920"/>
          </a:xfrm>
          <a:prstGeom prst="roundRect">
            <a:avLst>
              <a:gd name="adj" fmla="val 9091"/>
            </a:avLst>
          </a:prstGeom>
          <a:solidFill>
            <a:srgbClr val="123F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74520"/>
            <a:ext cx="3361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14600"/>
            <a:ext cx="3361944" cy="3520440"/>
          </a:xfrm>
          <a:prstGeom prst="roundRect">
            <a:avLst>
              <a:gd name="adj" fmla="val 1496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606040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" y="2880360"/>
            <a:ext cx="303276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and in motion. Each item has an owner, a measure, and a date.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3504" y="1874520"/>
            <a:ext cx="3361944" cy="502920"/>
          </a:xfrm>
          <a:prstGeom prst="roundRect">
            <a:avLst>
              <a:gd name="adj" fmla="val 9091"/>
            </a:avLst>
          </a:prstGeom>
          <a:solidFill>
            <a:srgbClr val="123F3C"/>
          </a:solidFill>
          <a:ln/>
        </p:spPr>
      </p:sp>
      <p:sp>
        <p:nvSpPr>
          <p:cNvPr id="11" name="Text 9"/>
          <p:cNvSpPr/>
          <p:nvPr/>
        </p:nvSpPr>
        <p:spPr>
          <a:xfrm>
            <a:off x="4413504" y="1874520"/>
            <a:ext cx="3361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13504" y="2514600"/>
            <a:ext cx="3361944" cy="3520440"/>
          </a:xfrm>
          <a:prstGeom prst="roundRect">
            <a:avLst>
              <a:gd name="adj" fmla="val 1496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8096" y="2606040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8096" y="2880360"/>
            <a:ext cx="303276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Likely, pending evidence. Each item names the assumption that promotes it to Now.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32648" y="1874520"/>
            <a:ext cx="3361944" cy="502920"/>
          </a:xfrm>
          <a:prstGeom prst="roundRect">
            <a:avLst>
              <a:gd name="adj" fmla="val 9091"/>
            </a:avLst>
          </a:prstGeom>
          <a:solidFill>
            <a:srgbClr val="123F3C"/>
          </a:solidFill>
          <a:ln/>
        </p:spPr>
      </p:sp>
      <p:sp>
        <p:nvSpPr>
          <p:cNvPr id="16" name="Text 14"/>
          <p:cNvSpPr/>
          <p:nvPr/>
        </p:nvSpPr>
        <p:spPr>
          <a:xfrm>
            <a:off x="8232648" y="1874520"/>
            <a:ext cx="3361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Later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32648" y="2514600"/>
            <a:ext cx="3361944" cy="3520440"/>
          </a:xfrm>
          <a:prstGeom prst="roundRect">
            <a:avLst>
              <a:gd name="adj" fmla="val 1496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7240" y="2606040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97240" y="2880360"/>
            <a:ext cx="303276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direction, not a promise. Themes and problems, never features with dates.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Quarterly Bet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this:  </a:t>
            </a:r>
            <a:pPr indent="0" marL="0">
              <a:buNone/>
            </a:pPr>
            <a:r>
              <a:rPr lang="en-US" sz="11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bet, reviewed as placed. The kill column gets read out loud first, before anyone presents progress.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788920" cy="457200"/>
          </a:xfrm>
          <a:prstGeom prst="rect">
            <a:avLst/>
          </a:prstGeom>
          <a:solidFill>
            <a:srgbClr val="123F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1874520" cy="457200"/>
          </a:xfrm>
          <a:prstGeom prst="rect">
            <a:avLst/>
          </a:prstGeom>
          <a:solidFill>
            <a:srgbClr val="123F3C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we said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49240" y="1874520"/>
            <a:ext cx="1874520" cy="457200"/>
          </a:xfrm>
          <a:prstGeom prst="rect">
            <a:avLst/>
          </a:prstGeom>
          <a:solidFill>
            <a:srgbClr val="123F3C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we got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69480" y="1874520"/>
            <a:ext cx="2560320" cy="457200"/>
          </a:xfrm>
          <a:prstGeom prst="rect">
            <a:avLst/>
          </a:prstGeom>
          <a:solidFill>
            <a:srgbClr val="123F3C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875520" y="1874520"/>
            <a:ext cx="1673352" cy="457200"/>
          </a:xfrm>
          <a:prstGeom prst="rect">
            <a:avLst/>
          </a:prstGeom>
          <a:solidFill>
            <a:srgbClr val="123F3C"/>
          </a:solidFill>
          <a:ln/>
        </p:spPr>
      </p:sp>
      <p:sp>
        <p:nvSpPr>
          <p:cNvPr id="14" name="Text 12"/>
          <p:cNvSpPr/>
          <p:nvPr/>
        </p:nvSpPr>
        <p:spPr>
          <a:xfrm>
            <a:off x="9966960" y="187452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Kill, persevere, or pivot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2377440"/>
            <a:ext cx="2788920" cy="886968"/>
          </a:xfrm>
          <a:prstGeom prst="rect">
            <a:avLst/>
          </a:prstGeom>
          <a:solidFill>
            <a:srgbClr val="F7F2E7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2377440"/>
            <a:ext cx="1874520" cy="886968"/>
          </a:xfrm>
          <a:prstGeom prst="rect">
            <a:avLst/>
          </a:prstGeom>
          <a:solidFill>
            <a:srgbClr val="F7F2E7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2377440"/>
            <a:ext cx="1874520" cy="886968"/>
          </a:xfrm>
          <a:prstGeom prst="rect">
            <a:avLst/>
          </a:prstGeom>
          <a:solidFill>
            <a:srgbClr val="F7F2E7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2377440"/>
            <a:ext cx="2560320" cy="886968"/>
          </a:xfrm>
          <a:prstGeom prst="rect">
            <a:avLst/>
          </a:prstGeom>
          <a:solidFill>
            <a:srgbClr val="F7F2E7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2377440"/>
            <a:ext cx="1673352" cy="886968"/>
          </a:xfrm>
          <a:prstGeom prst="rect">
            <a:avLst/>
          </a:prstGeom>
          <a:solidFill>
            <a:srgbClr val="F7F2E7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10128"/>
            <a:ext cx="2788920" cy="886968"/>
          </a:xfrm>
          <a:prstGeom prst="rect">
            <a:avLst/>
          </a:prstGeom>
          <a:solidFill>
            <a:srgbClr val="EFE7D2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3310128"/>
            <a:ext cx="1874520" cy="886968"/>
          </a:xfrm>
          <a:prstGeom prst="rect">
            <a:avLst/>
          </a:prstGeom>
          <a:solidFill>
            <a:srgbClr val="EFE7D2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3310128"/>
            <a:ext cx="1874520" cy="886968"/>
          </a:xfrm>
          <a:prstGeom prst="rect">
            <a:avLst/>
          </a:prstGeom>
          <a:solidFill>
            <a:srgbClr val="EFE7D2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3310128"/>
            <a:ext cx="2560320" cy="886968"/>
          </a:xfrm>
          <a:prstGeom prst="rect">
            <a:avLst/>
          </a:prstGeom>
          <a:solidFill>
            <a:srgbClr val="EFE7D2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0" y="3310128"/>
            <a:ext cx="1673352" cy="886968"/>
          </a:xfrm>
          <a:prstGeom prst="rect">
            <a:avLst/>
          </a:prstGeom>
          <a:solidFill>
            <a:srgbClr val="EFE7D2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242816"/>
            <a:ext cx="2788920" cy="886968"/>
          </a:xfrm>
          <a:prstGeom prst="rect">
            <a:avLst/>
          </a:prstGeom>
          <a:solidFill>
            <a:srgbClr val="F7F2E7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4242816"/>
            <a:ext cx="1874520" cy="886968"/>
          </a:xfrm>
          <a:prstGeom prst="rect">
            <a:avLst/>
          </a:prstGeom>
          <a:solidFill>
            <a:srgbClr val="F7F2E7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4242816"/>
            <a:ext cx="1874520" cy="886968"/>
          </a:xfrm>
          <a:prstGeom prst="rect">
            <a:avLst/>
          </a:prstGeom>
          <a:solidFill>
            <a:srgbClr val="F7F2E7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4242816"/>
            <a:ext cx="2560320" cy="886968"/>
          </a:xfrm>
          <a:prstGeom prst="rect">
            <a:avLst/>
          </a:prstGeom>
          <a:solidFill>
            <a:srgbClr val="F7F2E7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0" y="4242816"/>
            <a:ext cx="1673352" cy="886968"/>
          </a:xfrm>
          <a:prstGeom prst="rect">
            <a:avLst/>
          </a:prstGeom>
          <a:solidFill>
            <a:srgbClr val="F7F2E7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175504"/>
            <a:ext cx="2788920" cy="886968"/>
          </a:xfrm>
          <a:prstGeom prst="rect">
            <a:avLst/>
          </a:prstGeom>
          <a:solidFill>
            <a:srgbClr val="EFE7D2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5175504"/>
            <a:ext cx="1874520" cy="886968"/>
          </a:xfrm>
          <a:prstGeom prst="rect">
            <a:avLst/>
          </a:prstGeom>
          <a:solidFill>
            <a:srgbClr val="EFE7D2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49240" y="5175504"/>
            <a:ext cx="1874520" cy="886968"/>
          </a:xfrm>
          <a:prstGeom prst="rect">
            <a:avLst/>
          </a:prstGeom>
          <a:solidFill>
            <a:srgbClr val="EFE7D2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9480" y="5175504"/>
            <a:ext cx="2560320" cy="886968"/>
          </a:xfrm>
          <a:prstGeom prst="rect">
            <a:avLst/>
          </a:prstGeom>
          <a:solidFill>
            <a:srgbClr val="EFE7D2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75520" y="5175504"/>
            <a:ext cx="1673352" cy="886968"/>
          </a:xfrm>
          <a:prstGeom prst="rect">
            <a:avLst/>
          </a:prstGeom>
          <a:solidFill>
            <a:srgbClr val="EFE7D2"/>
          </a:solidFill>
          <a:ln w="6350">
            <a:solidFill>
              <a:srgbClr val="D9D2C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Discovery Debrief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this:  </a:t>
            </a:r>
            <a:pPr indent="0" marL="0">
              <a:buNone/>
            </a:pPr>
            <a:r>
              <a:rPr lang="en-US" sz="11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within 24 hours of every interview, while the surprise is still surprising. Behaviour beats testimony.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271516" cy="1600200"/>
          </a:xfrm>
          <a:prstGeom prst="roundRect">
            <a:avLst>
              <a:gd name="adj" fmla="val 3143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2024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THEY SAID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2194560"/>
            <a:ext cx="49423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Quotes, their words, not our paraphrase.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3076" y="1828800"/>
            <a:ext cx="5271516" cy="1600200"/>
          </a:xfrm>
          <a:prstGeom prst="roundRect">
            <a:avLst>
              <a:gd name="adj" fmla="val 3143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7668" y="192024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THEY DID OR SHOWED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87668" y="2194560"/>
            <a:ext cx="49423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shares, workarounds, the spreadsheet holding it together.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566160"/>
            <a:ext cx="5271516" cy="1234440"/>
          </a:xfrm>
          <a:prstGeom prst="roundRect">
            <a:avLst>
              <a:gd name="adj" fmla="val 4074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65760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THAT SURPRISED 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3076" y="3566160"/>
            <a:ext cx="5271516" cy="1234440"/>
          </a:xfrm>
          <a:prstGeom prst="roundRect">
            <a:avLst>
              <a:gd name="adj" fmla="val 4074"/>
            </a:avLst>
          </a:prstGeom>
          <a:solidFill>
            <a:srgbClr val="EFE7D2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7668" y="365760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THAT CONTRADICTS WHAT WE BELIEVED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4937760"/>
            <a:ext cx="11000232" cy="1097280"/>
          </a:xfrm>
          <a:prstGeom prst="roundRect">
            <a:avLst>
              <a:gd name="adj" fmla="val 4583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5029200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OWED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" y="5303520"/>
            <a:ext cx="10671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promised, who owns it, by when.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Decision Record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this:  </a:t>
            </a:r>
            <a:pPr indent="0" marL="0">
              <a:buNone/>
            </a:pPr>
            <a:r>
              <a:rPr lang="en-US" sz="11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the day the decision is made, not the quarter it goes wrong. The best inoculation against hindsight ever invented.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1000232" cy="786384"/>
          </a:xfrm>
          <a:prstGeom prst="roundRect">
            <a:avLst>
              <a:gd name="adj" fmla="val 6395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20240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2194560"/>
            <a:ext cx="10671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What we chose, from which options.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688336"/>
            <a:ext cx="11000232" cy="786384"/>
          </a:xfrm>
          <a:prstGeom prst="roundRect">
            <a:avLst>
              <a:gd name="adj" fmla="val 6395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779776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DECIDED, WHO WAS CONSULTED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3054096"/>
            <a:ext cx="10671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owner. A decision without one is a rumour.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547872"/>
            <a:ext cx="11000232" cy="786384"/>
          </a:xfrm>
          <a:prstGeom prst="roundRect">
            <a:avLst>
              <a:gd name="adj" fmla="val 6395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639312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KNEW AT THE TIME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" y="3913632"/>
            <a:ext cx="10671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and constraints as they looked that day.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407408"/>
            <a:ext cx="11000232" cy="786384"/>
          </a:xfrm>
          <a:prstGeom prst="roundRect">
            <a:avLst>
              <a:gd name="adj" fmla="val 6395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498848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OUR MIND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" y="4773168"/>
            <a:ext cx="10671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that reopens this, agreed now.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266944"/>
            <a:ext cx="11000232" cy="786384"/>
          </a:xfrm>
          <a:prstGeom prst="roundRect">
            <a:avLst>
              <a:gd name="adj" fmla="val 6395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5358384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DATE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" y="5632704"/>
            <a:ext cx="10671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check whether reality agrees.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Stakeholder Update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this:  </a:t>
            </a:r>
            <a:pPr indent="0" marL="0">
              <a:buNone/>
            </a:pPr>
            <a:r>
              <a:rPr lang="en-US" sz="11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slide, weekly, same shape every time. Predictability is what buys you the room's trust when the news is bad.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361944" cy="1920240"/>
          </a:xfrm>
          <a:prstGeom prst="roundRect">
            <a:avLst>
              <a:gd name="adj" fmla="val 2619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20240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LAST TIME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2194560"/>
            <a:ext cx="3032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and learning, not activity.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13504" y="1828800"/>
            <a:ext cx="3361944" cy="1920240"/>
          </a:xfrm>
          <a:prstGeom prst="roundRect">
            <a:avLst>
              <a:gd name="adj" fmla="val 2619"/>
            </a:avLst>
          </a:prstGeom>
          <a:solidFill>
            <a:srgbClr val="EFE7D2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8096" y="1920240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WORRIED ABOUT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8096" y="2194560"/>
            <a:ext cx="3032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risk, sized. Nothing here means nobody's looking.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32648" y="1828800"/>
            <a:ext cx="3361944" cy="1920240"/>
          </a:xfrm>
          <a:prstGeom prst="roundRect">
            <a:avLst>
              <a:gd name="adj" fmla="val 2619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7240" y="1920240"/>
            <a:ext cx="303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397240" y="2194560"/>
            <a:ext cx="3032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ask with a date, or explicitly nothing.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931920"/>
            <a:ext cx="11000232" cy="2011680"/>
          </a:xfrm>
          <a:prstGeom prst="roundRect">
            <a:avLst>
              <a:gd name="adj" fmla="val 2500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023360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MATTERS, AND ITS TREND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" y="4297680"/>
            <a:ext cx="106710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measure, its direction, and what we're doing about it.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Flow Snapshot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this:  </a:t>
            </a:r>
            <a:pPr indent="0" marL="0">
              <a:buNone/>
            </a:pPr>
            <a:r>
              <a:rPr lang="en-US" sz="11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numbers that tell you nearly everything, reviewed at every replan. The oldest item on the board is the conversation nobody is having.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407158" cy="2103120"/>
          </a:xfrm>
          <a:prstGeom prst="roundRect">
            <a:avLst>
              <a:gd name="adj" fmla="val 2609"/>
            </a:avLst>
          </a:prstGeom>
          <a:solidFill>
            <a:srgbClr val="123F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48840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—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04088" y="3035808"/>
            <a:ext cx="2187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3401568"/>
            <a:ext cx="2187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to door, calendar days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58718" y="1874520"/>
            <a:ext cx="2407158" cy="2103120"/>
          </a:xfrm>
          <a:prstGeom prst="roundRect">
            <a:avLst>
              <a:gd name="adj" fmla="val 2609"/>
            </a:avLst>
          </a:prstGeom>
          <a:solidFill>
            <a:srgbClr val="123F3C"/>
          </a:solidFill>
          <a:ln/>
        </p:spPr>
      </p:sp>
      <p:sp>
        <p:nvSpPr>
          <p:cNvPr id="10" name="Text 8"/>
          <p:cNvSpPr/>
          <p:nvPr/>
        </p:nvSpPr>
        <p:spPr>
          <a:xfrm>
            <a:off x="3458718" y="2148840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—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68446" y="3035808"/>
            <a:ext cx="2187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8446" y="3401568"/>
            <a:ext cx="2187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items per week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23076" y="1874520"/>
            <a:ext cx="2407158" cy="2103120"/>
          </a:xfrm>
          <a:prstGeom prst="roundRect">
            <a:avLst>
              <a:gd name="adj" fmla="val 2609"/>
            </a:avLst>
          </a:prstGeom>
          <a:solidFill>
            <a:srgbClr val="123F3C"/>
          </a:solidFill>
          <a:ln/>
        </p:spPr>
      </p:sp>
      <p:sp>
        <p:nvSpPr>
          <p:cNvPr id="14" name="Text 12"/>
          <p:cNvSpPr/>
          <p:nvPr/>
        </p:nvSpPr>
        <p:spPr>
          <a:xfrm>
            <a:off x="6323076" y="2148840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—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32804" y="3035808"/>
            <a:ext cx="2187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32804" y="3401568"/>
            <a:ext cx="2187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started, everywhere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7434" y="1874520"/>
            <a:ext cx="2407158" cy="2103120"/>
          </a:xfrm>
          <a:prstGeom prst="roundRect">
            <a:avLst>
              <a:gd name="adj" fmla="val 2609"/>
            </a:avLst>
          </a:prstGeom>
          <a:solidFill>
            <a:srgbClr val="123F3C"/>
          </a:solidFill>
          <a:ln/>
        </p:spPr>
      </p:sp>
      <p:sp>
        <p:nvSpPr>
          <p:cNvPr id="18" name="Text 16"/>
          <p:cNvSpPr/>
          <p:nvPr/>
        </p:nvSpPr>
        <p:spPr>
          <a:xfrm>
            <a:off x="9187434" y="2148840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—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297162" y="3035808"/>
            <a:ext cx="2187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item's 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97162" y="3401568"/>
            <a:ext cx="2187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nobody is worried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4251960"/>
            <a:ext cx="11000232" cy="1691640"/>
          </a:xfrm>
          <a:prstGeom prst="roundRect">
            <a:avLst>
              <a:gd name="adj" fmla="val 2973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4343400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WORK WAITED THIS FORTNIGHT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8952" y="4617720"/>
            <a:ext cx="1067104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queues, not the people. In most systems work spends over 80% of its life waiting; write down for whom.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AI Readiness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this:  </a:t>
            </a:r>
            <a:pPr indent="0" marL="0">
              <a:buNone/>
            </a:pPr>
            <a:r>
              <a:rPr lang="en-US" sz="11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before the demo, not after. Any 'no' is the next piece of work, not a reason to stop.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23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8470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describe this AI feature by customer outcome, without naming the technology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56032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23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5328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owns: what happens when it's wrong, and what does that cost?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24612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23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2186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Evals, thresholds, and kill criteria exist as product artefacts, reviewed by product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93192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23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9044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cost per interaction today, and the curve at ten times the volume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61772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23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5902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uses AI in its own daily work; the capability is practised, not sponsored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530352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23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52760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which decisions stay human, and have written that down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Kill Criteria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this:  </a:t>
            </a:r>
            <a:pPr indent="0" marL="0">
              <a:buNone/>
            </a:pPr>
            <a:r>
              <a:rPr lang="en-US" sz="11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while nobody is defending sunk cost. The cheapest slide in the pack, and the one that saves the most money.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271516" cy="1828800"/>
          </a:xfrm>
          <a:prstGeom prst="roundRect">
            <a:avLst>
              <a:gd name="adj" fmla="val 2750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2024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2194560"/>
            <a:ext cx="49423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running and the outcome it promised.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3076" y="1828800"/>
            <a:ext cx="5271516" cy="1828800"/>
          </a:xfrm>
          <a:prstGeom prst="roundRect">
            <a:avLst>
              <a:gd name="adj" fmla="val 2750"/>
            </a:avLst>
          </a:prstGeom>
          <a:solidFill>
            <a:srgbClr val="EFE7D2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7668" y="192024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THAT KILLS 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87668" y="2194560"/>
            <a:ext cx="49423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measurable, dated. 'If X hasn't reached Y by date Z.'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840480"/>
            <a:ext cx="5271516" cy="1828800"/>
          </a:xfrm>
          <a:prstGeom prst="roundRect">
            <a:avLst>
              <a:gd name="adj" fmla="val 2750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93192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THAT DOUBLES 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" y="4206240"/>
            <a:ext cx="49423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result would make us fund this harder?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23076" y="3840480"/>
            <a:ext cx="5271516" cy="1828800"/>
          </a:xfrm>
          <a:prstGeom prst="roundRect">
            <a:avLst>
              <a:gd name="adj" fmla="val 2750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7668" y="393192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PULLS THE TRIGGER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87668" y="4206240"/>
            <a:ext cx="49423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owner who acts on the evidence, and the forum where it happens.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Toolkit  ·  Anderson &amp; Co  ·  andersonco.uk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Stretch 1:1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 this:  </a:t>
            </a:r>
            <a:pPr indent="0" marL="0">
              <a:buNone/>
            </a:pPr>
            <a:r>
              <a:rPr lang="en-US" sz="11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1:1 about growth, not status. Run it monthly alongside, never instead of, the ordinary ones.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1000232" cy="1024128"/>
          </a:xfrm>
          <a:prstGeom prst="roundRect">
            <a:avLst>
              <a:gd name="adj" fmla="val 4911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20240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STRETCH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2194560"/>
            <a:ext cx="10671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they are learning by doing right now. If we can't name it, that is the finding.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11000232" cy="1024128"/>
          </a:xfrm>
          <a:prstGeom prst="roundRect">
            <a:avLst>
              <a:gd name="adj" fmla="val 4911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017520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UNCOMFORTABLE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3291840"/>
            <a:ext cx="10671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moment this month that stretched. Discomfort is the signal, not the problem.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023360"/>
            <a:ext cx="11000232" cy="1024128"/>
          </a:xfrm>
          <a:prstGeom prst="roundRect">
            <a:avLst>
              <a:gd name="adj" fmla="val 4911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4114800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REMOVE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" y="4389120"/>
            <a:ext cx="10671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blocker, exposure, or introduction the manager owns before next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5120640"/>
            <a:ext cx="11000232" cy="1024128"/>
          </a:xfrm>
          <a:prstGeom prst="roundRect">
            <a:avLst>
              <a:gd name="adj" fmla="val 4911"/>
            </a:avLst>
          </a:prstGeom>
          <a:solidFill>
            <a:srgbClr val="F7F2E7"/>
          </a:solidFill>
          <a:ln w="9525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5212080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STRETCH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" y="5486400"/>
            <a:ext cx="10671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should be doing in six months that they can't do today.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 &amp; 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9202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templates are free.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tailoring is the craft.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379476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twelve canvases are the shapes I use inside real organisations. Bending them to your organisation, in the room, with your leadership team, is what I do for a living. Training cohorts bring their real product artefacts and we bring every one up to scratch in the classroom.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52120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andersonco.uk  ·  Free tools, field notes, and how I can help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436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Elle Fitz Anderson, Anderson &amp; Co. Free to use and share, with attribution.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2026-07-19T09:27:28Z</dcterms:created>
  <dcterms:modified xsi:type="dcterms:W3CDTF">2026-07-19T09:27:28Z</dcterms:modified>
</cp:coreProperties>
</file>